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7" r:id="rId4"/>
    <p:sldId id="258"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031" autoAdjust="0"/>
  </p:normalViewPr>
  <p:slideViewPr>
    <p:cSldViewPr snapToGrid="0">
      <p:cViewPr varScale="1">
        <p:scale>
          <a:sx n="86" d="100"/>
          <a:sy n="86" d="100"/>
        </p:scale>
        <p:origin x="15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68C773-6067-48F4-A6EE-00E370D64021}" type="datetimeFigureOut">
              <a:rPr lang="zh-CN" altLang="en-US" smtClean="0"/>
              <a:t>2023/6/7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22D3DE-3C20-4737-9E0E-42F86765D3A3}" type="slidenum">
              <a:rPr lang="zh-CN" altLang="en-US" smtClean="0"/>
              <a:t>‹#›</a:t>
            </a:fld>
            <a:endParaRPr lang="zh-CN" altLang="en-US"/>
          </a:p>
        </p:txBody>
      </p:sp>
    </p:spTree>
    <p:extLst>
      <p:ext uri="{BB962C8B-B14F-4D97-AF65-F5344CB8AC3E}">
        <p14:creationId xmlns:p14="http://schemas.microsoft.com/office/powerpoint/2010/main" val="3371092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arial" panose="020B0604020202020204" pitchFamily="34" charset="0"/>
              </a:rPr>
              <a:t>该家族的所有成员都是胚胎发育、细胞增殖、分化、血管生成、炎症和细胞凋亡的关键调节因子。该基因编码的蛋白质主要在细胞核中表达。它包含一个 </a:t>
            </a:r>
            <a:r>
              <a:rPr lang="en-US" altLang="zh-CN" b="0" i="0" dirty="0">
                <a:solidFill>
                  <a:srgbClr val="000000"/>
                </a:solidFill>
                <a:effectLst/>
                <a:latin typeface="arial" panose="020B0604020202020204" pitchFamily="34" charset="0"/>
              </a:rPr>
              <a:t>ETS DNA </a:t>
            </a:r>
            <a:r>
              <a:rPr lang="zh-CN" altLang="en-US" b="0" i="0" dirty="0">
                <a:solidFill>
                  <a:srgbClr val="000000"/>
                </a:solidFill>
                <a:effectLst/>
                <a:latin typeface="arial" panose="020B0604020202020204" pitchFamily="34" charset="0"/>
              </a:rPr>
              <a:t>结合结构域和一个 </a:t>
            </a:r>
            <a:r>
              <a:rPr lang="en-US" altLang="zh-CN" b="0" i="0" dirty="0">
                <a:solidFill>
                  <a:srgbClr val="000000"/>
                </a:solidFill>
                <a:effectLst/>
                <a:latin typeface="arial" panose="020B0604020202020204" pitchFamily="34" charset="0"/>
              </a:rPr>
              <a:t>PNT</a:t>
            </a:r>
            <a:r>
              <a:rPr lang="zh-CN" altLang="en-US" b="0" i="0" dirty="0">
                <a:solidFill>
                  <a:srgbClr val="000000"/>
                </a:solidFill>
                <a:effectLst/>
                <a:latin typeface="arial" panose="020B0604020202020204" pitchFamily="34" charset="0"/>
              </a:rPr>
              <a:t>（尖头）结构域，该结构域与嵌合癌蛋白的自缔合有关。这种蛋白质是血小板粘附到内皮下层、诱导血管细胞重塑所必需的。它还调节造血功能以及巨核细胞的分化和成熟。该基因参与染色体易位，产生不同的融合基因产物，如前列腺癌中的</a:t>
            </a:r>
            <a:r>
              <a:rPr lang="en-US" altLang="zh-CN" b="0" i="0" dirty="0">
                <a:solidFill>
                  <a:srgbClr val="000000"/>
                </a:solidFill>
                <a:effectLst/>
                <a:latin typeface="arial" panose="020B0604020202020204" pitchFamily="34" charset="0"/>
              </a:rPr>
              <a:t>TMPSSR2-ERG</a:t>
            </a:r>
            <a:r>
              <a:rPr lang="zh-CN" altLang="en-US" b="0" i="0" dirty="0">
                <a:solidFill>
                  <a:srgbClr val="000000"/>
                </a:solidFill>
                <a:effectLst/>
                <a:latin typeface="arial" panose="020B0604020202020204" pitchFamily="34" charset="0"/>
              </a:rPr>
              <a:t>和</a:t>
            </a:r>
            <a:r>
              <a:rPr lang="en-US" altLang="zh-CN" b="0" i="0" dirty="0">
                <a:solidFill>
                  <a:srgbClr val="000000"/>
                </a:solidFill>
                <a:effectLst/>
                <a:latin typeface="arial" panose="020B0604020202020204" pitchFamily="34" charset="0"/>
              </a:rPr>
              <a:t>NDRG1-ERG</a:t>
            </a:r>
            <a:r>
              <a:rPr lang="zh-CN" altLang="en-US" b="0" i="0" dirty="0">
                <a:solidFill>
                  <a:srgbClr val="000000"/>
                </a:solidFill>
                <a:effectLst/>
                <a:latin typeface="arial" panose="020B0604020202020204" pitchFamily="34" charset="0"/>
              </a:rPr>
              <a:t>，尤文氏肉瘤中的</a:t>
            </a:r>
            <a:r>
              <a:rPr lang="en-US" altLang="zh-CN" b="0" i="0" dirty="0">
                <a:solidFill>
                  <a:srgbClr val="000000"/>
                </a:solidFill>
                <a:effectLst/>
                <a:latin typeface="arial" panose="020B0604020202020204" pitchFamily="34" charset="0"/>
              </a:rPr>
              <a:t>EWS-ERG</a:t>
            </a:r>
            <a:r>
              <a:rPr lang="zh-CN" altLang="en-US" b="0" i="0" dirty="0">
                <a:solidFill>
                  <a:srgbClr val="000000"/>
                </a:solidFill>
                <a:effectLst/>
                <a:latin typeface="arial" panose="020B0604020202020204" pitchFamily="34" charset="0"/>
              </a:rPr>
              <a:t>和急性髓性白血病中的</a:t>
            </a:r>
            <a:r>
              <a:rPr lang="en-US" altLang="zh-CN" b="0" i="0" dirty="0">
                <a:solidFill>
                  <a:srgbClr val="000000"/>
                </a:solidFill>
                <a:effectLst/>
                <a:latin typeface="arial" panose="020B0604020202020204" pitchFamily="34" charset="0"/>
              </a:rPr>
              <a:t>FUS-ERG</a:t>
            </a:r>
            <a:r>
              <a:rPr lang="zh-CN" altLang="en-US" b="0" i="0" dirty="0">
                <a:solidFill>
                  <a:srgbClr val="000000"/>
                </a:solidFill>
                <a:effectLst/>
                <a:latin typeface="arial" panose="020B0604020202020204" pitchFamily="34" charset="0"/>
              </a:rPr>
              <a:t>。已经报道了组合使用三个替代启动子和多个替代剪接事件产生的超过两打的转录本变体，但尚未确定其中许多变体的全长性质。</a:t>
            </a:r>
            <a:r>
              <a:rPr lang="en-US" altLang="zh-CN" b="0" i="0" dirty="0">
                <a:solidFill>
                  <a:srgbClr val="000000"/>
                </a:solidFill>
                <a:effectLst/>
                <a:latin typeface="arial" panose="020B0604020202020204" pitchFamily="34" charset="0"/>
              </a:rPr>
              <a:t>From NCBI</a:t>
            </a:r>
            <a:endParaRPr lang="zh-CN" altLang="en-US" dirty="0"/>
          </a:p>
        </p:txBody>
      </p:sp>
      <p:sp>
        <p:nvSpPr>
          <p:cNvPr id="4" name="灯片编号占位符 3"/>
          <p:cNvSpPr>
            <a:spLocks noGrp="1"/>
          </p:cNvSpPr>
          <p:nvPr>
            <p:ph type="sldNum" sz="quarter" idx="5"/>
          </p:nvPr>
        </p:nvSpPr>
        <p:spPr/>
        <p:txBody>
          <a:bodyPr/>
          <a:lstStyle/>
          <a:p>
            <a:fld id="{8A22D3DE-3C20-4737-9E0E-42F86765D3A3}" type="slidenum">
              <a:rPr lang="zh-CN" altLang="en-US" smtClean="0"/>
              <a:t>5</a:t>
            </a:fld>
            <a:endParaRPr lang="zh-CN" altLang="en-US"/>
          </a:p>
        </p:txBody>
      </p:sp>
    </p:spTree>
    <p:extLst>
      <p:ext uri="{BB962C8B-B14F-4D97-AF65-F5344CB8AC3E}">
        <p14:creationId xmlns:p14="http://schemas.microsoft.com/office/powerpoint/2010/main" val="31409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2C485-3B69-0410-C8C5-88B537F4CE4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B69C6C7-2598-F5A3-758F-73A9847AD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F0839AD-591A-C3C7-C26E-6B2251135212}"/>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5" name="页脚占位符 4">
            <a:extLst>
              <a:ext uri="{FF2B5EF4-FFF2-40B4-BE49-F238E27FC236}">
                <a16:creationId xmlns:a16="http://schemas.microsoft.com/office/drawing/2014/main" id="{4924049B-BAD5-BFCA-4236-A9770964C5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675034B-CA89-91F4-7D56-553B8B689184}"/>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277161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328BD0-9B30-7210-DD71-AACDE158A6A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41336A0-1653-3F7A-3243-080C4D0CA4E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57A6A5-CF03-4972-EC45-23B4953B3942}"/>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5" name="页脚占位符 4">
            <a:extLst>
              <a:ext uri="{FF2B5EF4-FFF2-40B4-BE49-F238E27FC236}">
                <a16:creationId xmlns:a16="http://schemas.microsoft.com/office/drawing/2014/main" id="{81A332D7-F94D-00B4-8E11-F34878B7201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49C615-A008-931C-63C6-939D7DDDF1D0}"/>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3109932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CDC11C-51B0-ACD5-8923-25B2447FB95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4E78238-FDF7-011C-AD7F-49FF41814A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8598EC3-5703-0413-1418-E02D8B16581A}"/>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5" name="页脚占位符 4">
            <a:extLst>
              <a:ext uri="{FF2B5EF4-FFF2-40B4-BE49-F238E27FC236}">
                <a16:creationId xmlns:a16="http://schemas.microsoft.com/office/drawing/2014/main" id="{E984F92F-FFFE-7888-CFBC-C02E96B352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769B86-2719-FBBC-FB8F-75D02AF3F371}"/>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2082267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0A3B1-6EFD-7F6D-42C8-0E8D65A6B1A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723F18C-B0AA-8441-2D99-C3ECEB4EA4D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0B4AF46-A898-B814-40DC-E872B4C05F5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95F98E2-4BF2-D359-0750-97B30406A34D}"/>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6" name="页脚占位符 5">
            <a:extLst>
              <a:ext uri="{FF2B5EF4-FFF2-40B4-BE49-F238E27FC236}">
                <a16:creationId xmlns:a16="http://schemas.microsoft.com/office/drawing/2014/main" id="{956D5717-9B48-A518-9856-15C814624B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1A31249-174E-CD5B-FA36-331BC22B91A0}"/>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1759844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36F9C1-225D-E694-3835-19F3E2A9D84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5CBD40F-859A-9EA7-F84F-80DF14EC8F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DED329C-D462-2BAF-97D2-E0218A7E1D5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0A931A7-D065-3DA4-2082-C462E80290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4C222C-2DC9-BA4A-2194-B8C66FB63B7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267F9D2-4940-5D07-1CAF-3E9DF80D6B17}"/>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8" name="页脚占位符 7">
            <a:extLst>
              <a:ext uri="{FF2B5EF4-FFF2-40B4-BE49-F238E27FC236}">
                <a16:creationId xmlns:a16="http://schemas.microsoft.com/office/drawing/2014/main" id="{B18F4B29-3F90-D6F9-50D3-B1DFE0C4F93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585ABC0-17E0-2111-C450-2F4ED6EF30AC}"/>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712488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AF5762-2EF1-D62D-006E-27B92E9C675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7F9A3BA-BA61-11E9-FBB6-BA77AA1F8348}"/>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4" name="页脚占位符 3">
            <a:extLst>
              <a:ext uri="{FF2B5EF4-FFF2-40B4-BE49-F238E27FC236}">
                <a16:creationId xmlns:a16="http://schemas.microsoft.com/office/drawing/2014/main" id="{C986F862-8E06-386A-A865-DB699E82839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B9BCC70-1BAD-D448-0271-5A8ACC66395F}"/>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1718143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BDBF20F-BD38-0D39-FC0C-9164E31BAAFB}"/>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3" name="页脚占位符 2">
            <a:extLst>
              <a:ext uri="{FF2B5EF4-FFF2-40B4-BE49-F238E27FC236}">
                <a16:creationId xmlns:a16="http://schemas.microsoft.com/office/drawing/2014/main" id="{68391463-F857-045D-9156-3FC787BBAC2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5B57FC2-A581-2A1D-7753-EEADD2F3CD48}"/>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1509469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02644E-A64D-47A3-F42C-783D8FCDDA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EB8A4B6-BB25-E0FC-7F8F-794B1B3B01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A504D48-2A52-759E-BA91-24D9E5FD2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72AE43E-28AF-7D79-5913-73BE26AA8CFF}"/>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6" name="页脚占位符 5">
            <a:extLst>
              <a:ext uri="{FF2B5EF4-FFF2-40B4-BE49-F238E27FC236}">
                <a16:creationId xmlns:a16="http://schemas.microsoft.com/office/drawing/2014/main" id="{A150D01A-7650-93A1-1D4D-95579172C8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670D37-D682-89DD-AA1B-10881A53D0CC}"/>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3675337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B36F8-61C1-3EB3-99D5-00F1F338715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63235CA-E7A6-8344-E150-71BF5374EB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5739A43-9B2B-7E6F-B7E0-C82C075B7A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86372DA-AECB-232E-42F7-BCA9307F3A5A}"/>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6" name="页脚占位符 5">
            <a:extLst>
              <a:ext uri="{FF2B5EF4-FFF2-40B4-BE49-F238E27FC236}">
                <a16:creationId xmlns:a16="http://schemas.microsoft.com/office/drawing/2014/main" id="{124A1A52-8B34-7E2C-1268-B5452A2390D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4F2721C-70BF-0C3E-AC46-9A0DF6069A9C}"/>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3889794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3D83C5-BCFA-B7FB-110E-7D9DBB4005B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642BD2C-BE8B-2AFF-4353-96A98A26601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5820943-6D7A-2190-1DBB-F5990977C4C4}"/>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5" name="页脚占位符 4">
            <a:extLst>
              <a:ext uri="{FF2B5EF4-FFF2-40B4-BE49-F238E27FC236}">
                <a16:creationId xmlns:a16="http://schemas.microsoft.com/office/drawing/2014/main" id="{86500B41-F2FB-CAB3-BDF6-8135CB773E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4A7FCF-137F-8BAB-39F6-248DE30972F0}"/>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3424358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8F454CD-689F-AE16-40C3-2D3647935F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B5B7601-9D92-43E5-4437-E70C4A4412C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1CA9C70-A3C6-52E6-A0D3-7DF063408890}"/>
              </a:ext>
            </a:extLst>
          </p:cNvPr>
          <p:cNvSpPr>
            <a:spLocks noGrp="1"/>
          </p:cNvSpPr>
          <p:nvPr>
            <p:ph type="dt" sz="half" idx="10"/>
          </p:nvPr>
        </p:nvSpPr>
        <p:spPr/>
        <p:txBody>
          <a:bodyPr/>
          <a:lstStyle/>
          <a:p>
            <a:fld id="{532F7853-2818-4F17-8D67-DAE18BD1FDD9}" type="datetimeFigureOut">
              <a:rPr lang="zh-CN" altLang="en-US" smtClean="0"/>
              <a:t>2023/6/7</a:t>
            </a:fld>
            <a:endParaRPr lang="zh-CN" altLang="en-US"/>
          </a:p>
        </p:txBody>
      </p:sp>
      <p:sp>
        <p:nvSpPr>
          <p:cNvPr id="5" name="页脚占位符 4">
            <a:extLst>
              <a:ext uri="{FF2B5EF4-FFF2-40B4-BE49-F238E27FC236}">
                <a16:creationId xmlns:a16="http://schemas.microsoft.com/office/drawing/2014/main" id="{FEE69CFB-BD96-3C0B-1D42-0BEB28426A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03456B2-4A95-8546-82C0-0BE0D66D22C2}"/>
              </a:ext>
            </a:extLst>
          </p:cNvPr>
          <p:cNvSpPr>
            <a:spLocks noGrp="1"/>
          </p:cNvSpPr>
          <p:nvPr>
            <p:ph type="sldNum" sz="quarter" idx="12"/>
          </p:nvPr>
        </p:nvSpPr>
        <p:spPr/>
        <p:txBody>
          <a:body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2713040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7DF259F-7ECF-61F1-BA10-95D5BDE87D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1D20099-E067-6CEE-E113-7AC24FDE77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FDC0EAA-B485-8BFD-2890-36DF17EAA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2F7853-2818-4F17-8D67-DAE18BD1FDD9}" type="datetimeFigureOut">
              <a:rPr lang="zh-CN" altLang="en-US" smtClean="0"/>
              <a:t>2023/6/7</a:t>
            </a:fld>
            <a:endParaRPr lang="zh-CN" altLang="en-US"/>
          </a:p>
        </p:txBody>
      </p:sp>
      <p:sp>
        <p:nvSpPr>
          <p:cNvPr id="5" name="页脚占位符 4">
            <a:extLst>
              <a:ext uri="{FF2B5EF4-FFF2-40B4-BE49-F238E27FC236}">
                <a16:creationId xmlns:a16="http://schemas.microsoft.com/office/drawing/2014/main" id="{50D09B69-E6B3-0730-D257-E3D593D09A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908DF7D-CBE9-FA57-0EC0-5745EDC4DE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25AEA-788A-4B28-98CB-B6183DC63F87}" type="slidenum">
              <a:rPr lang="zh-CN" altLang="en-US" smtClean="0"/>
              <a:t>‹#›</a:t>
            </a:fld>
            <a:endParaRPr lang="zh-CN" altLang="en-US"/>
          </a:p>
        </p:txBody>
      </p:sp>
    </p:spTree>
    <p:extLst>
      <p:ext uri="{BB962C8B-B14F-4D97-AF65-F5344CB8AC3E}">
        <p14:creationId xmlns:p14="http://schemas.microsoft.com/office/powerpoint/2010/main" val="3739176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1E6EE-030A-0A2D-DC4C-C56D95EC0A76}"/>
              </a:ext>
            </a:extLst>
          </p:cNvPr>
          <p:cNvSpPr>
            <a:spLocks noGrp="1"/>
          </p:cNvSpPr>
          <p:nvPr>
            <p:ph type="ctrTitle"/>
          </p:nvPr>
        </p:nvSpPr>
        <p:spPr/>
        <p:txBody>
          <a:bodyPr/>
          <a:lstStyle/>
          <a:p>
            <a:r>
              <a:rPr lang="en-US" altLang="zh-CN" dirty="0"/>
              <a:t>Endo specific regulons</a:t>
            </a:r>
            <a:endParaRPr lang="zh-CN" altLang="en-US" dirty="0"/>
          </a:p>
        </p:txBody>
      </p:sp>
      <p:sp>
        <p:nvSpPr>
          <p:cNvPr id="3" name="副标题 2">
            <a:extLst>
              <a:ext uri="{FF2B5EF4-FFF2-40B4-BE49-F238E27FC236}">
                <a16:creationId xmlns:a16="http://schemas.microsoft.com/office/drawing/2014/main" id="{B6139605-C31B-3B4E-4B7B-5D7B86337C84}"/>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51268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表, 日程表, 树状图&#10;&#10;描述已自动生成">
            <a:extLst>
              <a:ext uri="{FF2B5EF4-FFF2-40B4-BE49-F238E27FC236}">
                <a16:creationId xmlns:a16="http://schemas.microsoft.com/office/drawing/2014/main" id="{39220097-E994-04C9-404F-4B09C71A00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3810" y="102262"/>
            <a:ext cx="5534822" cy="6629277"/>
          </a:xfrm>
          <a:prstGeom prst="rect">
            <a:avLst/>
          </a:prstGeom>
        </p:spPr>
      </p:pic>
      <p:sp>
        <p:nvSpPr>
          <p:cNvPr id="5" name="文本框 4">
            <a:extLst>
              <a:ext uri="{FF2B5EF4-FFF2-40B4-BE49-F238E27FC236}">
                <a16:creationId xmlns:a16="http://schemas.microsoft.com/office/drawing/2014/main" id="{56E63CCC-5586-33CD-6986-7CDF1787A1CD}"/>
              </a:ext>
            </a:extLst>
          </p:cNvPr>
          <p:cNvSpPr txBox="1"/>
          <p:nvPr/>
        </p:nvSpPr>
        <p:spPr>
          <a:xfrm>
            <a:off x="-349949" y="2991378"/>
            <a:ext cx="5010491" cy="369332"/>
          </a:xfrm>
          <a:prstGeom prst="rect">
            <a:avLst/>
          </a:prstGeom>
          <a:noFill/>
        </p:spPr>
        <p:txBody>
          <a:bodyPr wrap="square">
            <a:spAutoFit/>
          </a:bodyPr>
          <a:lstStyle/>
          <a:p>
            <a:pPr algn="ctr"/>
            <a:r>
              <a:rPr lang="en-US" altLang="zh-CN" dirty="0">
                <a:latin typeface="Times New Roman" panose="02020603050405020304" pitchFamily="18" charset="0"/>
                <a:cs typeface="Times New Roman" panose="02020603050405020304" pitchFamily="18" charset="0"/>
              </a:rPr>
              <a:t>Heatmap of Regulon activity by </a:t>
            </a:r>
            <a:r>
              <a:rPr lang="en-US" altLang="zh-CN" dirty="0" err="1">
                <a:latin typeface="Times New Roman" panose="02020603050405020304" pitchFamily="18" charset="0"/>
                <a:cs typeface="Times New Roman" panose="02020603050405020304" pitchFamily="18" charset="0"/>
              </a:rPr>
              <a:t>celltype</a:t>
            </a:r>
            <a:endParaRPr lang="zh-CN" altLang="en-US"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2382E911-D24F-1985-2FC5-BD2E4FE15E5E}"/>
              </a:ext>
            </a:extLst>
          </p:cNvPr>
          <p:cNvSpPr/>
          <p:nvPr/>
        </p:nvSpPr>
        <p:spPr>
          <a:xfrm>
            <a:off x="4543810" y="3413125"/>
            <a:ext cx="4901747" cy="36933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131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CA69B6-CD02-B038-3A31-846E0CEC0BE0}"/>
              </a:ext>
            </a:extLst>
          </p:cNvPr>
          <p:cNvSpPr>
            <a:spLocks noGrp="1"/>
          </p:cNvSpPr>
          <p:nvPr>
            <p:ph type="title"/>
          </p:nvPr>
        </p:nvSpPr>
        <p:spPr/>
        <p:txBody>
          <a:bodyPr/>
          <a:lstStyle/>
          <a:p>
            <a:r>
              <a:rPr lang="en-US" altLang="zh-CN" dirty="0"/>
              <a:t>Regulons with high activity in heatmap</a:t>
            </a:r>
            <a:endParaRPr lang="zh-CN" altLang="en-US" dirty="0"/>
          </a:p>
        </p:txBody>
      </p:sp>
      <p:sp>
        <p:nvSpPr>
          <p:cNvPr id="3" name="内容占位符 2">
            <a:extLst>
              <a:ext uri="{FF2B5EF4-FFF2-40B4-BE49-F238E27FC236}">
                <a16:creationId xmlns:a16="http://schemas.microsoft.com/office/drawing/2014/main" id="{91FBC553-25AB-5C37-6F83-875A43035945}"/>
              </a:ext>
            </a:extLst>
          </p:cNvPr>
          <p:cNvSpPr>
            <a:spLocks noGrp="1"/>
          </p:cNvSpPr>
          <p:nvPr>
            <p:ph idx="1"/>
          </p:nvPr>
        </p:nvSpPr>
        <p:spPr/>
        <p:txBody>
          <a:bodyPr/>
          <a:lstStyle/>
          <a:p>
            <a:r>
              <a:rPr lang="nl-NL" altLang="zh-CN" dirty="0"/>
              <a:t>Erg_(+)</a:t>
            </a:r>
          </a:p>
          <a:p>
            <a:r>
              <a:rPr lang="nl-NL" altLang="zh-CN" dirty="0"/>
              <a:t>Gata2_(+)</a:t>
            </a:r>
          </a:p>
          <a:p>
            <a:r>
              <a:rPr lang="nl-NL" altLang="zh-CN" dirty="0"/>
              <a:t>Sox17_(+)</a:t>
            </a:r>
          </a:p>
          <a:p>
            <a:r>
              <a:rPr lang="nl-NL" altLang="zh-CN" dirty="0"/>
              <a:t>Tead4_(+)</a:t>
            </a:r>
          </a:p>
          <a:p>
            <a:r>
              <a:rPr lang="nl-NL" altLang="zh-CN" dirty="0"/>
              <a:t>Klf4_(+)</a:t>
            </a:r>
          </a:p>
          <a:p>
            <a:r>
              <a:rPr lang="nl-NL" altLang="zh-CN" dirty="0"/>
              <a:t>Irf7_(+)</a:t>
            </a:r>
            <a:endParaRPr lang="zh-CN" altLang="en-US" dirty="0"/>
          </a:p>
        </p:txBody>
      </p:sp>
    </p:spTree>
    <p:extLst>
      <p:ext uri="{BB962C8B-B14F-4D97-AF65-F5344CB8AC3E}">
        <p14:creationId xmlns:p14="http://schemas.microsoft.com/office/powerpoint/2010/main" val="3999089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表, 雷达图&#10;&#10;描述已自动生成">
            <a:extLst>
              <a:ext uri="{FF2B5EF4-FFF2-40B4-BE49-F238E27FC236}">
                <a16:creationId xmlns:a16="http://schemas.microsoft.com/office/drawing/2014/main" id="{81DC9D30-B5A0-9DC4-4DE8-7F9F1C9E7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7915" y="132348"/>
            <a:ext cx="6416170" cy="6593304"/>
          </a:xfrm>
          <a:prstGeom prst="rect">
            <a:avLst/>
          </a:prstGeom>
        </p:spPr>
      </p:pic>
      <p:sp>
        <p:nvSpPr>
          <p:cNvPr id="2" name="标题 1">
            <a:extLst>
              <a:ext uri="{FF2B5EF4-FFF2-40B4-BE49-F238E27FC236}">
                <a16:creationId xmlns:a16="http://schemas.microsoft.com/office/drawing/2014/main" id="{0CBFFDBF-AB83-6607-A1F2-3E3B5070F08B}"/>
              </a:ext>
            </a:extLst>
          </p:cNvPr>
          <p:cNvSpPr>
            <a:spLocks noGrp="1"/>
          </p:cNvSpPr>
          <p:nvPr>
            <p:ph type="title"/>
          </p:nvPr>
        </p:nvSpPr>
        <p:spPr>
          <a:xfrm>
            <a:off x="27983" y="132348"/>
            <a:ext cx="10515600" cy="1325563"/>
          </a:xfrm>
        </p:spPr>
        <p:txBody>
          <a:bodyPr/>
          <a:lstStyle/>
          <a:p>
            <a:r>
              <a:rPr lang="en-US" altLang="zh-CN" dirty="0"/>
              <a:t>Erg regulon</a:t>
            </a:r>
            <a:endParaRPr lang="zh-CN" altLang="en-US" dirty="0"/>
          </a:p>
        </p:txBody>
      </p:sp>
      <p:sp>
        <p:nvSpPr>
          <p:cNvPr id="6" name="矩形 5">
            <a:extLst>
              <a:ext uri="{FF2B5EF4-FFF2-40B4-BE49-F238E27FC236}">
                <a16:creationId xmlns:a16="http://schemas.microsoft.com/office/drawing/2014/main" id="{C4687C60-EFF5-C9AE-F359-E329680AF2DC}"/>
              </a:ext>
            </a:extLst>
          </p:cNvPr>
          <p:cNvSpPr/>
          <p:nvPr/>
        </p:nvSpPr>
        <p:spPr>
          <a:xfrm>
            <a:off x="5807160" y="3590692"/>
            <a:ext cx="615942" cy="56871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DE563C8-73AB-5B59-77F2-5353E8AAEEC0}"/>
              </a:ext>
            </a:extLst>
          </p:cNvPr>
          <p:cNvSpPr/>
          <p:nvPr/>
        </p:nvSpPr>
        <p:spPr>
          <a:xfrm>
            <a:off x="7743754" y="3803708"/>
            <a:ext cx="742323" cy="56871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D971E75-66A5-FCEF-34AC-BE74058933B7}"/>
              </a:ext>
            </a:extLst>
          </p:cNvPr>
          <p:cNvSpPr/>
          <p:nvPr/>
        </p:nvSpPr>
        <p:spPr>
          <a:xfrm>
            <a:off x="3435667" y="3875048"/>
            <a:ext cx="742323" cy="49737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92718D8-5D7C-5698-4C7D-60A74FCAD787}"/>
              </a:ext>
            </a:extLst>
          </p:cNvPr>
          <p:cNvSpPr/>
          <p:nvPr/>
        </p:nvSpPr>
        <p:spPr>
          <a:xfrm>
            <a:off x="4177990" y="1457911"/>
            <a:ext cx="598449" cy="49737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2D92242-88A8-96DB-FE75-3E6D78B927C6}"/>
              </a:ext>
            </a:extLst>
          </p:cNvPr>
          <p:cNvSpPr/>
          <p:nvPr/>
        </p:nvSpPr>
        <p:spPr>
          <a:xfrm>
            <a:off x="6527179" y="4654594"/>
            <a:ext cx="598449" cy="49737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5803BF0-2F60-BD04-C615-7511CEA5A64F}"/>
              </a:ext>
            </a:extLst>
          </p:cNvPr>
          <p:cNvSpPr/>
          <p:nvPr/>
        </p:nvSpPr>
        <p:spPr>
          <a:xfrm>
            <a:off x="7125628" y="5192750"/>
            <a:ext cx="598449" cy="49737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1977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44BF534F-3DB1-9D44-566B-07BBCE936C48}"/>
              </a:ext>
            </a:extLst>
          </p:cNvPr>
          <p:cNvSpPr txBox="1">
            <a:spLocks/>
          </p:cNvSpPr>
          <p:nvPr/>
        </p:nvSpPr>
        <p:spPr>
          <a:xfrm>
            <a:off x="27983" y="13234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Erg</a:t>
            </a:r>
            <a:endParaRPr lang="zh-CN" altLang="en-US" dirty="0"/>
          </a:p>
        </p:txBody>
      </p:sp>
      <p:pic>
        <p:nvPicPr>
          <p:cNvPr id="1026" name="Picture 2" descr="Image 1">
            <a:extLst>
              <a:ext uri="{FF2B5EF4-FFF2-40B4-BE49-F238E27FC236}">
                <a16:creationId xmlns:a16="http://schemas.microsoft.com/office/drawing/2014/main" id="{CD5170E9-D25C-8C90-65BC-92931345C98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96828" y="1229050"/>
            <a:ext cx="7478057" cy="466588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82E94584-E8D0-E58E-F852-4400DE71DADF}"/>
              </a:ext>
            </a:extLst>
          </p:cNvPr>
          <p:cNvSpPr txBox="1"/>
          <p:nvPr/>
        </p:nvSpPr>
        <p:spPr>
          <a:xfrm>
            <a:off x="147171" y="2641937"/>
            <a:ext cx="3609975"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ETS transcription factor</a:t>
            </a:r>
          </a:p>
          <a:p>
            <a:pPr marL="285750" indent="-285750">
              <a:buFont typeface="Arial" panose="020B0604020202020204" pitchFamily="34" charset="0"/>
              <a:buChar char="•"/>
            </a:pPr>
            <a:r>
              <a:rPr lang="en-US" altLang="zh-CN" dirty="0"/>
              <a:t>Erg</a:t>
            </a:r>
            <a:r>
              <a:rPr lang="zh-CN" altLang="en-US" dirty="0"/>
              <a:t>基因编码成红血细胞转化特异性（</a:t>
            </a:r>
            <a:r>
              <a:rPr lang="en-US" altLang="zh-CN" b="0" i="0" dirty="0">
                <a:solidFill>
                  <a:srgbClr val="000000"/>
                </a:solidFill>
                <a:effectLst/>
                <a:latin typeface="arial" panose="020B0604020202020204" pitchFamily="34" charset="0"/>
              </a:rPr>
              <a:t>erythroblast transformation-specific</a:t>
            </a:r>
            <a:r>
              <a:rPr lang="zh-CN" altLang="en-US" dirty="0">
                <a:solidFill>
                  <a:srgbClr val="000000"/>
                </a:solidFill>
                <a:latin typeface="arial" panose="020B0604020202020204" pitchFamily="34" charset="0"/>
              </a:rPr>
              <a:t>，</a:t>
            </a:r>
            <a:r>
              <a:rPr lang="en-US" altLang="zh-CN" dirty="0">
                <a:solidFill>
                  <a:srgbClr val="000000"/>
                </a:solidFill>
                <a:latin typeface="arial" panose="020B0604020202020204" pitchFamily="34" charset="0"/>
              </a:rPr>
              <a:t>ETS</a:t>
            </a:r>
            <a:r>
              <a:rPr lang="zh-CN" altLang="en-US" dirty="0"/>
              <a:t>）家族的转录因子成员</a:t>
            </a:r>
            <a:endParaRPr lang="en-US" altLang="zh-CN" dirty="0"/>
          </a:p>
          <a:p>
            <a:pPr marL="285750" indent="-285750">
              <a:buFont typeface="Arial" panose="020B0604020202020204" pitchFamily="34" charset="0"/>
              <a:buChar char="•"/>
            </a:pPr>
            <a:r>
              <a:rPr lang="en-US" altLang="zh-CN" dirty="0"/>
              <a:t>a major regulator of endothelial function</a:t>
            </a:r>
            <a:endParaRPr lang="zh-CN" altLang="en-US" dirty="0"/>
          </a:p>
        </p:txBody>
      </p:sp>
      <p:sp>
        <p:nvSpPr>
          <p:cNvPr id="6" name="矩形 5">
            <a:extLst>
              <a:ext uri="{FF2B5EF4-FFF2-40B4-BE49-F238E27FC236}">
                <a16:creationId xmlns:a16="http://schemas.microsoft.com/office/drawing/2014/main" id="{1E4F1646-0D83-DAE2-444A-17A27F2CBAD3}"/>
              </a:ext>
            </a:extLst>
          </p:cNvPr>
          <p:cNvSpPr/>
          <p:nvPr/>
        </p:nvSpPr>
        <p:spPr>
          <a:xfrm>
            <a:off x="9888507" y="3657599"/>
            <a:ext cx="1586378" cy="73342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DC25E77-CB9E-AB5E-0887-A13128A4F9DC}"/>
              </a:ext>
            </a:extLst>
          </p:cNvPr>
          <p:cNvSpPr/>
          <p:nvPr/>
        </p:nvSpPr>
        <p:spPr>
          <a:xfrm>
            <a:off x="3996828" y="2585234"/>
            <a:ext cx="1862604" cy="73342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23E3836B-9636-4C3D-A8DB-1B779D60C6BD}"/>
              </a:ext>
            </a:extLst>
          </p:cNvPr>
          <p:cNvSpPr txBox="1"/>
          <p:nvPr/>
        </p:nvSpPr>
        <p:spPr>
          <a:xfrm>
            <a:off x="6546057" y="6495106"/>
            <a:ext cx="6205536" cy="338554"/>
          </a:xfrm>
          <a:prstGeom prst="rect">
            <a:avLst/>
          </a:prstGeom>
          <a:noFill/>
        </p:spPr>
        <p:txBody>
          <a:bodyPr wrap="square">
            <a:spAutoFit/>
          </a:bodyPr>
          <a:lstStyle/>
          <a:p>
            <a:r>
              <a:rPr lang="en-US" altLang="zh-CN" sz="800" dirty="0"/>
              <a:t>Shah AV, </a:t>
            </a:r>
            <a:r>
              <a:rPr lang="en-US" altLang="zh-CN" sz="800" dirty="0" err="1"/>
              <a:t>Birdsey</a:t>
            </a:r>
            <a:r>
              <a:rPr lang="en-US" altLang="zh-CN" sz="800" dirty="0"/>
              <a:t> GM, Randi AM. 2016. Regulation of endothelial homeostasis, vascular development and angiogenesis by the transcription factor ERG. </a:t>
            </a:r>
            <a:r>
              <a:rPr lang="en-US" altLang="zh-CN" sz="800" dirty="0" err="1"/>
              <a:t>Vascul</a:t>
            </a:r>
            <a:r>
              <a:rPr lang="en-US" altLang="zh-CN" sz="800" dirty="0"/>
              <a:t> </a:t>
            </a:r>
            <a:r>
              <a:rPr lang="en-US" altLang="zh-CN" sz="800" dirty="0" err="1"/>
              <a:t>Pharmacol</a:t>
            </a:r>
            <a:r>
              <a:rPr lang="en-US" altLang="zh-CN" sz="800" dirty="0"/>
              <a:t>. 86:3–13</a:t>
            </a:r>
            <a:endParaRPr lang="zh-CN" altLang="en-US" sz="800" dirty="0"/>
          </a:p>
        </p:txBody>
      </p:sp>
    </p:spTree>
    <p:extLst>
      <p:ext uri="{BB962C8B-B14F-4D97-AF65-F5344CB8AC3E}">
        <p14:creationId xmlns:p14="http://schemas.microsoft.com/office/powerpoint/2010/main" val="3098894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5D114-6655-746B-EF30-06EAAE590194}"/>
              </a:ext>
            </a:extLst>
          </p:cNvPr>
          <p:cNvSpPr>
            <a:spLocks noGrp="1"/>
          </p:cNvSpPr>
          <p:nvPr>
            <p:ph type="title"/>
          </p:nvPr>
        </p:nvSpPr>
        <p:spPr/>
        <p:txBody>
          <a:bodyPr/>
          <a:lstStyle/>
          <a:p>
            <a:r>
              <a:rPr lang="en-US" altLang="zh-CN" dirty="0" err="1"/>
              <a:t>Mecom</a:t>
            </a:r>
            <a:endParaRPr lang="zh-CN" altLang="en-US" dirty="0"/>
          </a:p>
        </p:txBody>
      </p:sp>
      <p:sp>
        <p:nvSpPr>
          <p:cNvPr id="3" name="内容占位符 2">
            <a:extLst>
              <a:ext uri="{FF2B5EF4-FFF2-40B4-BE49-F238E27FC236}">
                <a16:creationId xmlns:a16="http://schemas.microsoft.com/office/drawing/2014/main" id="{D4EDDF08-E3FC-0ABF-FC97-A7C3AEEE3AB1}"/>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68271550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252</Words>
  <Application>Microsoft Office PowerPoint</Application>
  <PresentationFormat>宽屏</PresentationFormat>
  <Paragraphs>18</Paragraphs>
  <Slides>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等线</vt:lpstr>
      <vt:lpstr>等线 Light</vt:lpstr>
      <vt:lpstr>Arial</vt:lpstr>
      <vt:lpstr>Arial</vt:lpstr>
      <vt:lpstr>Times New Roman</vt:lpstr>
      <vt:lpstr>Office 主题​​</vt:lpstr>
      <vt:lpstr>Endo specific regulons</vt:lpstr>
      <vt:lpstr>PowerPoint 演示文稿</vt:lpstr>
      <vt:lpstr>Regulons with high activity in heatmap</vt:lpstr>
      <vt:lpstr>Erg regulon</vt:lpstr>
      <vt:lpstr>PowerPoint 演示文稿</vt:lpstr>
      <vt:lpstr>Mecom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Endo specific regulons</dc:title>
  <dc:creator>Zhou Ziyue</dc:creator>
  <cp:lastModifiedBy>Zhou Ziyue</cp:lastModifiedBy>
  <cp:revision>3</cp:revision>
  <dcterms:created xsi:type="dcterms:W3CDTF">2023-06-07T08:04:03Z</dcterms:created>
  <dcterms:modified xsi:type="dcterms:W3CDTF">2023-06-07T09:30:40Z</dcterms:modified>
</cp:coreProperties>
</file>