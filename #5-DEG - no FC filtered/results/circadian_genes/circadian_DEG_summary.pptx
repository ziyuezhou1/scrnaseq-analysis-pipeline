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57" r:id="rId5"/>
    <p:sldId id="266" r:id="rId6"/>
    <p:sldId id="267" r:id="rId7"/>
    <p:sldId id="268" r:id="rId8"/>
    <p:sldId id="270" r:id="rId9"/>
    <p:sldId id="269" r:id="rId10"/>
    <p:sldId id="271" r:id="rId11"/>
    <p:sldId id="27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CDA2C-F3AB-4950-9614-759B386151BE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8791C-524A-44F3-B50E-440D33025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32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ircadb.hogeneschlab.org/mouse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Exclusive: </a:t>
            </a:r>
            <a:r>
              <a:rPr lang="zh-CN" altLang="en-US" dirty="0"/>
              <a:t>只在该细胞类型中的</a:t>
            </a:r>
            <a:r>
              <a:rPr lang="en-US" altLang="zh-CN" dirty="0"/>
              <a:t>DEG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8791C-524A-44F3-B50E-440D33025F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807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CIRCA: Circadian gene expression profiles. </a:t>
            </a:r>
            <a:r>
              <a:rPr lang="en-US" altLang="zh-CN">
                <a:hlinkClick r:id="rId3"/>
              </a:rPr>
              <a:t>(hogeneschlab.org)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8791C-524A-44F3-B50E-440D33025F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20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3C4B6-9D62-BDE2-2FE6-03F8B1BD5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B9DB27-2C72-36E2-00D0-801BDCDCB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1F470D-52A1-FF85-0DCB-ACFF9D12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2410C-CC78-730F-9BB2-28F02740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280B72-7548-6F79-D2A3-8BA67916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20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C867D-FFBB-B0E2-D057-A3322535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254307-905D-8814-464A-B62F6BB62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E1C9A-A937-9304-6670-B219F0B2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A6AD0-6D59-CF89-DC45-377CD27D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16269-9896-E218-D2B6-7D94DFD4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08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17E3B-67ED-B7C3-70C8-28BBD1A1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E26A59-7136-B4C3-C03D-94E63FCF6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11FFDC-E4DE-B254-7EB9-A79CD99A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558DD-0452-4627-46C0-87690DEC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F229A-98BA-1BF2-FD08-5F3D347E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25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A9082-AD30-BDFF-386D-F0CD86F4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77425-2FB5-153F-33C5-244B3F1C5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8DF79D-40EB-C6DC-9575-544E2BB6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09C9B-5AC2-5035-6CE7-B75D4130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96652E-E002-D4C7-EFD1-A0B9E58A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16610C-24E4-BF26-DFDF-0896EF74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7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F2893-7823-99FE-84B5-001CAD93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E359FA-F4B1-F4B8-37CA-461A89644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E3EF9-6769-3C5B-8433-A87E5B537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C1032B-649B-AA3E-D707-5DD2F4220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0F78D4-EFCA-1C98-0707-CD6E51B38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2A8E5-CC5F-CA25-C20F-64D76655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456724-AD2B-BD43-C949-1725EBD5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C8EDE5-0DCF-E6F0-5940-B5CA5878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5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63FE6-6A9E-1167-3ED8-1A0FCD94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440892-F250-51C0-28BA-4836659C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0EFF0C-4B16-7563-6712-7F72D394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6E8578-42F3-105C-E951-782EDD1E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92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E755E3-E39F-20BC-10EA-58CA2C38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172BEF-3D01-DC8C-EB44-CBE10157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B38BD6-EDDC-A68E-790A-DC6D6A37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25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479DF-DCFF-7FB6-FE29-55919B8F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882CB7-782E-FFFA-5F99-F47B0DB5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C697A3-7F45-4D80-D268-525A1363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03EE2E-2F82-D083-694F-08FE145C2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BAC7A4-538B-A443-EA70-A7C772BB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6A222-7805-F691-0ED0-C4690F02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1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69D3A-8901-C349-5F03-C29F9EE5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23E6A0-E973-74A3-145C-D423FA75E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73F7B7-7AE8-9F6D-4C3B-23F4D873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CDD23F-89A4-B1C7-0F12-87D7E4BA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E8191-2FC0-50D1-9B52-4FD40726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6410B7-5E5A-B6E9-E26D-D8DE3F8A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47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A2734-5919-A83A-991A-4EB8E049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2E805D-D1FC-A169-55D4-412C2FB5B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E3A9A1-AC89-97E6-07F5-572A175A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FBDEB-79AB-6DA3-FAD1-AD72C4B8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504BF-607C-C450-8EDE-971B2D49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84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8222B5-B85C-AE01-4DDA-C012B983D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BB3A69-3F69-EF2C-89C2-85C7B2C47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1C880-8C75-EC7A-2B8D-700BA3B6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FDD1E-48DE-26C5-F6CD-8D4C03B8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8AF952-3ACC-2429-3565-7B7E5BD1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54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C5566-9841-1FAB-595A-9B94D9C8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9D22DA-E084-2D14-4C27-08D01B79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29E25F-04B7-F5A5-EECC-BBDBCF21C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2F1C6-5A2E-472F-9EC0-A6534D0A3C1B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0AE5BB-DB16-5ECF-C2BD-A644C6CC8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D9EAC-7DCB-9D1C-4E20-7343F3D0E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24D21-0229-4475-B284-947DED9A18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38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1BCAC-F3CE-FAAF-FCFE-A993576C4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DEG summary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5F9057-C1EA-BB58-A025-931C32D6B2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ZZY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2023. 3. 27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62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维恩图&#10;&#10;描述已自动生成">
            <a:extLst>
              <a:ext uri="{FF2B5EF4-FFF2-40B4-BE49-F238E27FC236}">
                <a16:creationId xmlns:a16="http://schemas.microsoft.com/office/drawing/2014/main" id="{78763B79-2776-9572-CE8B-A23A615CF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06" y="571500"/>
            <a:ext cx="5715000" cy="571500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EC3DE38-3794-3386-BC13-A27BCF338D0C}"/>
              </a:ext>
            </a:extLst>
          </p:cNvPr>
          <p:cNvCxnSpPr>
            <a:cxnSpLocks/>
          </p:cNvCxnSpPr>
          <p:nvPr/>
        </p:nvCxnSpPr>
        <p:spPr>
          <a:xfrm flipV="1">
            <a:off x="3295650" y="1423277"/>
            <a:ext cx="1312424" cy="166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E9E4210-01B0-DA8F-84FB-37E7230ADEF4}"/>
              </a:ext>
            </a:extLst>
          </p:cNvPr>
          <p:cNvSpPr txBox="1"/>
          <p:nvPr/>
        </p:nvSpPr>
        <p:spPr>
          <a:xfrm>
            <a:off x="4254500" y="1053945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genes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30">
            <a:extLst>
              <a:ext uri="{FF2B5EF4-FFF2-40B4-BE49-F238E27FC236}">
                <a16:creationId xmlns:a16="http://schemas.microsoft.com/office/drawing/2014/main" id="{0DF8A902-A12F-CCA4-1305-51DD4891E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236202"/>
              </p:ext>
            </p:extLst>
          </p:nvPr>
        </p:nvGraphicFramePr>
        <p:xfrm>
          <a:off x="6801524" y="889272"/>
          <a:ext cx="4512825" cy="229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799">
                  <a:extLst>
                    <a:ext uri="{9D8B030D-6E8A-4147-A177-3AD203B41FA5}">
                      <a16:colId xmlns:a16="http://schemas.microsoft.com/office/drawing/2014/main" val="398441533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863256061"/>
                    </a:ext>
                  </a:extLst>
                </a:gridCol>
                <a:gridCol w="1581151">
                  <a:extLst>
                    <a:ext uri="{9D8B030D-6E8A-4147-A177-3AD203B41FA5}">
                      <a16:colId xmlns:a16="http://schemas.microsoft.com/office/drawing/2014/main" val="3450991333"/>
                    </a:ext>
                  </a:extLst>
                </a:gridCol>
              </a:tblGrid>
              <a:tr h="573246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circadian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249588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NS(N1)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005740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NW(N2)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057561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SD1D(N3)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354570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5EB783-CA06-5443-3850-5D81D8796F4B}"/>
              </a:ext>
            </a:extLst>
          </p:cNvPr>
          <p:cNvCxnSpPr/>
          <p:nvPr/>
        </p:nvCxnSpPr>
        <p:spPr>
          <a:xfrm>
            <a:off x="4343400" y="4505325"/>
            <a:ext cx="962025" cy="1162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22BA41D-E2AD-E077-7B2A-43B9D94850EE}"/>
              </a:ext>
            </a:extLst>
          </p:cNvPr>
          <p:cNvSpPr txBox="1"/>
          <p:nvPr/>
        </p:nvSpPr>
        <p:spPr>
          <a:xfrm>
            <a:off x="5305425" y="5599396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genes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E5A4A8-6DD7-9307-2683-52F0DF3B8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826" y="3619214"/>
            <a:ext cx="4858428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2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34B0A-6089-FBB8-C6B8-1037AB78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patterns in each cell type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示, 维恩图&#10;&#10;描述已自动生成">
            <a:extLst>
              <a:ext uri="{FF2B5EF4-FFF2-40B4-BE49-F238E27FC236}">
                <a16:creationId xmlns:a16="http://schemas.microsoft.com/office/drawing/2014/main" id="{C4BC0398-241E-04E0-4BD4-0DBD4912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7" y="1097604"/>
            <a:ext cx="2718070" cy="2718070"/>
          </a:xfrm>
          <a:prstGeom prst="rect">
            <a:avLst/>
          </a:prstGeom>
        </p:spPr>
      </p:pic>
      <p:pic>
        <p:nvPicPr>
          <p:cNvPr id="7" name="图片 6" descr="图示&#10;&#10;低可信度描述已自动生成">
            <a:extLst>
              <a:ext uri="{FF2B5EF4-FFF2-40B4-BE49-F238E27FC236}">
                <a16:creationId xmlns:a16="http://schemas.microsoft.com/office/drawing/2014/main" id="{E503ED13-CEC7-83D6-FFF8-009A2EFA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77" y="1097604"/>
            <a:ext cx="2718071" cy="2718071"/>
          </a:xfrm>
          <a:prstGeom prst="rect">
            <a:avLst/>
          </a:prstGeom>
        </p:spPr>
      </p:pic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979DAD52-9869-99CA-CCA4-731A0FFB0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246" y="1097604"/>
            <a:ext cx="2718072" cy="2718072"/>
          </a:xfrm>
          <a:prstGeom prst="rect">
            <a:avLst/>
          </a:prstGeom>
        </p:spPr>
      </p:pic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FD994967-4849-E1A6-B334-576F8BA53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14" y="1064130"/>
            <a:ext cx="2718073" cy="2718073"/>
          </a:xfrm>
          <a:prstGeom prst="rect">
            <a:avLst/>
          </a:prstGeom>
        </p:spPr>
      </p:pic>
      <p:pic>
        <p:nvPicPr>
          <p:cNvPr id="13" name="图片 12" descr="图示, 维恩图&#10;&#10;描述已自动生成">
            <a:extLst>
              <a:ext uri="{FF2B5EF4-FFF2-40B4-BE49-F238E27FC236}">
                <a16:creationId xmlns:a16="http://schemas.microsoft.com/office/drawing/2014/main" id="{BEC6D68D-1BE7-8A7D-E04B-B0F1E5E1B6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4" y="3967260"/>
            <a:ext cx="2718073" cy="2718073"/>
          </a:xfrm>
          <a:prstGeom prst="rect">
            <a:avLst/>
          </a:prstGeom>
        </p:spPr>
      </p:pic>
      <p:pic>
        <p:nvPicPr>
          <p:cNvPr id="15" name="图片 14" descr="图示, 维恩图&#10;&#10;描述已自动生成">
            <a:extLst>
              <a:ext uri="{FF2B5EF4-FFF2-40B4-BE49-F238E27FC236}">
                <a16:creationId xmlns:a16="http://schemas.microsoft.com/office/drawing/2014/main" id="{20796279-AC7E-E673-30E9-E7818B09DB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72" y="3967260"/>
            <a:ext cx="2718074" cy="2718074"/>
          </a:xfrm>
          <a:prstGeom prst="rect">
            <a:avLst/>
          </a:prstGeom>
        </p:spPr>
      </p:pic>
      <p:pic>
        <p:nvPicPr>
          <p:cNvPr id="17" name="图片 16" descr="图示, 维恩图&#10;&#10;描述已自动生成">
            <a:extLst>
              <a:ext uri="{FF2B5EF4-FFF2-40B4-BE49-F238E27FC236}">
                <a16:creationId xmlns:a16="http://schemas.microsoft.com/office/drawing/2014/main" id="{19B42F93-BF77-DE3A-CD62-23F6F600B9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239" y="3967258"/>
            <a:ext cx="2718075" cy="2718075"/>
          </a:xfrm>
          <a:prstGeom prst="rect">
            <a:avLst/>
          </a:prstGeom>
        </p:spPr>
      </p:pic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A7CA2F4B-1F8F-6A7A-A337-CE1B917E3C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12" y="3967257"/>
            <a:ext cx="2718076" cy="271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ACFA3-1D7B-E2DF-8347-F2E0F246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1" y="131661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DEG number summary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91A2B54-0614-10A0-2BDA-68D83656C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820898"/>
              </p:ext>
            </p:extLst>
          </p:nvPr>
        </p:nvGraphicFramePr>
        <p:xfrm>
          <a:off x="274953" y="3046847"/>
          <a:ext cx="1164209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10168361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4767924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4250530"/>
                    </a:ext>
                  </a:extLst>
                </a:gridCol>
                <a:gridCol w="1394143">
                  <a:extLst>
                    <a:ext uri="{9D8B030D-6E8A-4147-A177-3AD203B41FA5}">
                      <a16:colId xmlns:a16="http://schemas.microsoft.com/office/drawing/2014/main" val="2827974673"/>
                    </a:ext>
                  </a:extLst>
                </a:gridCol>
                <a:gridCol w="1851343">
                  <a:extLst>
                    <a:ext uri="{9D8B030D-6E8A-4147-A177-3AD203B41FA5}">
                      <a16:colId xmlns:a16="http://schemas.microsoft.com/office/drawing/2014/main" val="1735488042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745208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801259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4450709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4071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Glial cell(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Egfr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Oligo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42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0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89778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78660DE-2A6E-8F5F-A885-9E74BBBFCB36}"/>
              </a:ext>
            </a:extLst>
          </p:cNvPr>
          <p:cNvSpPr txBox="1"/>
          <p:nvPr/>
        </p:nvSpPr>
        <p:spPr>
          <a:xfrm>
            <a:off x="1178666" y="1395676"/>
            <a:ext cx="98346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core genes: overlap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Oligo,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17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Basp1, Calm1, Calm2, Dynll1, Egr1, Fth1,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Gapdh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Hsp90ab1, Hspa5, Hspa8,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Nrgn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Ppia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Stmn1, Tmem267, Tmsb4x,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Ubb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14B2FE-AF41-275C-4D4A-32C1305AB9F2}"/>
              </a:ext>
            </a:extLst>
          </p:cNvPr>
          <p:cNvSpPr txBox="1"/>
          <p:nvPr/>
        </p:nvSpPr>
        <p:spPr>
          <a:xfrm>
            <a:off x="1178666" y="4694791"/>
            <a:ext cx="9834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circadian DEG number(remove repeat): 2149</a:t>
            </a:r>
          </a:p>
        </p:txBody>
      </p:sp>
    </p:spTree>
    <p:extLst>
      <p:ext uri="{BB962C8B-B14F-4D97-AF65-F5344CB8AC3E}">
        <p14:creationId xmlns:p14="http://schemas.microsoft.com/office/powerpoint/2010/main" val="340526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912D9-ED28-F7A5-342D-74B1DA4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788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all DEG hits in circadian databases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C79838-FBC9-09F9-5901-7574452C2932}"/>
              </a:ext>
            </a:extLst>
          </p:cNvPr>
          <p:cNvSpPr txBox="1"/>
          <p:nvPr/>
        </p:nvSpPr>
        <p:spPr>
          <a:xfrm>
            <a:off x="1178668" y="672267"/>
            <a:ext cx="9834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circadian DEG number(remove repeat): 2149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DEG hits: 732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76AD44-3DD3-2710-67C4-DC38EF1CF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221825"/>
              </p:ext>
            </p:extLst>
          </p:nvPr>
        </p:nvGraphicFramePr>
        <p:xfrm>
          <a:off x="2015246" y="1380153"/>
          <a:ext cx="8500354" cy="53206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50177">
                  <a:extLst>
                    <a:ext uri="{9D8B030D-6E8A-4147-A177-3AD203B41FA5}">
                      <a16:colId xmlns:a16="http://schemas.microsoft.com/office/drawing/2014/main" val="856803350"/>
                    </a:ext>
                  </a:extLst>
                </a:gridCol>
                <a:gridCol w="4250177">
                  <a:extLst>
                    <a:ext uri="{9D8B030D-6E8A-4147-A177-3AD203B41FA5}">
                      <a16:colId xmlns:a16="http://schemas.microsoft.com/office/drawing/2014/main" val="206897307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20 hits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Hits in databases</a:t>
                      </a:r>
                      <a:endParaRPr lang="en-US" altLang="zh-CN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769033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91644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Hmgb1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130895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Dbp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4118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982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Gapdh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3821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Hsp90aa1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147794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Timp3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22936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Dnajb6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63854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Hspa4l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1129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Tuba1b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63490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Acsl1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722561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Cys1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25782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Slc25a5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76408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Hspa8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739106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Fbn1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15907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Pdxk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359074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182655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166976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Anp32a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547968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3093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84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601B1-3C17-0D5A-AA8A-5DDE9CE1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457562" cy="77941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core DEG hits in circadian databases</a:t>
            </a:r>
            <a:endParaRPr lang="zh-CN" altLang="en-US" sz="4000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ECFA3D2-B5F6-C43F-5B5E-CE75D4762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709560"/>
              </p:ext>
            </p:extLst>
          </p:nvPr>
        </p:nvGraphicFramePr>
        <p:xfrm>
          <a:off x="1286212" y="1119844"/>
          <a:ext cx="6389992" cy="52517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29792">
                  <a:extLst>
                    <a:ext uri="{9D8B030D-6E8A-4147-A177-3AD203B41FA5}">
                      <a16:colId xmlns:a16="http://schemas.microsoft.com/office/drawing/2014/main" val="2317865826"/>
                    </a:ext>
                  </a:extLst>
                </a:gridCol>
                <a:gridCol w="3260200">
                  <a:extLst>
                    <a:ext uri="{9D8B030D-6E8A-4147-A177-3AD203B41FA5}">
                      <a16:colId xmlns:a16="http://schemas.microsoft.com/office/drawing/2014/main" val="2213110355"/>
                    </a:ext>
                  </a:extLst>
                </a:gridCol>
              </a:tblGrid>
              <a:tr h="291765"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in circadian database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2784307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3766892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Basp1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3521445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Calm1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5548299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Calm2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1720027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Dynll1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2277334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555272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Fth1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4191238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Gapdh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8567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Hsp90ab1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72384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Hspa5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2186578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Hspa8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994765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Nrgn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8794579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Ppia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7468682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Stmn1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6948287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Tmem267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8483464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Tmsb4x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2589697"/>
                  </a:ext>
                </a:extLst>
              </a:tr>
              <a:tr h="2917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51150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0E41728-16B1-89D0-DCB7-F9B2E002AF80}"/>
              </a:ext>
            </a:extLst>
          </p:cNvPr>
          <p:cNvSpPr txBox="1"/>
          <p:nvPr/>
        </p:nvSpPr>
        <p:spPr>
          <a:xfrm>
            <a:off x="8054501" y="2423246"/>
            <a:ext cx="214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hits in 17 DEGs</a:t>
            </a:r>
          </a:p>
        </p:txBody>
      </p:sp>
    </p:spTree>
    <p:extLst>
      <p:ext uri="{BB962C8B-B14F-4D97-AF65-F5344CB8AC3E}">
        <p14:creationId xmlns:p14="http://schemas.microsoft.com/office/powerpoint/2010/main" val="120962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BAB3E-1267-54C4-8320-F2D92611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cell type 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circadian databases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1FB8DE2-8871-DF81-2B7E-C7C82B8B3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813770"/>
              </p:ext>
            </p:extLst>
          </p:nvPr>
        </p:nvGraphicFramePr>
        <p:xfrm>
          <a:off x="274954" y="1960880"/>
          <a:ext cx="11642091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10168361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4767924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4250530"/>
                    </a:ext>
                  </a:extLst>
                </a:gridCol>
                <a:gridCol w="1394143">
                  <a:extLst>
                    <a:ext uri="{9D8B030D-6E8A-4147-A177-3AD203B41FA5}">
                      <a16:colId xmlns:a16="http://schemas.microsoft.com/office/drawing/2014/main" val="2827974673"/>
                    </a:ext>
                  </a:extLst>
                </a:gridCol>
                <a:gridCol w="1851343">
                  <a:extLst>
                    <a:ext uri="{9D8B030D-6E8A-4147-A177-3AD203B41FA5}">
                      <a16:colId xmlns:a16="http://schemas.microsoft.com/office/drawing/2014/main" val="1735488042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745208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801259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4450709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4071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Glial cell(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Egfr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Oligo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42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0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251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89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038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733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4DFF1-F646-E420-5FD4-D14512FE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Astro 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circadian databases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BDD8D47-E31F-33EC-1678-EAFB21182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34831"/>
              </p:ext>
            </p:extLst>
          </p:nvPr>
        </p:nvGraphicFramePr>
        <p:xfrm>
          <a:off x="792890" y="2561014"/>
          <a:ext cx="10202776" cy="19234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7818">
                  <a:extLst>
                    <a:ext uri="{9D8B030D-6E8A-4147-A177-3AD203B41FA5}">
                      <a16:colId xmlns:a16="http://schemas.microsoft.com/office/drawing/2014/main" val="2081798998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1250724991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1824516384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3262955950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88723240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2567525236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373568866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2636553001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398510272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323155627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1170449149"/>
                    </a:ext>
                  </a:extLst>
                </a:gridCol>
                <a:gridCol w="833178">
                  <a:extLst>
                    <a:ext uri="{9D8B030D-6E8A-4147-A177-3AD203B41FA5}">
                      <a16:colId xmlns:a16="http://schemas.microsoft.com/office/drawing/2014/main" val="1870636890"/>
                    </a:ext>
                  </a:extLst>
                </a:gridCol>
              </a:tblGrid>
              <a:tr h="1127243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circadian databases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5614795"/>
                  </a:ext>
                </a:extLst>
              </a:tr>
              <a:tr h="3980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Gm26512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5.27E-26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-0.65512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1.84E-21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1.25E-17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0.515872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4.35E-13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3123990"/>
                  </a:ext>
                </a:extLst>
              </a:tr>
              <a:tr h="3980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Gpr158</a:t>
                      </a:r>
                      <a:endParaRPr lang="en-US" sz="16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2.19E-20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-0.64826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7.62E-16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1.12E-07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0.309177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0.003894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2780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91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77773-7F1F-601B-7C9A-4B5F8E0C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</a:t>
            </a:r>
            <a:r>
              <a:rPr lang="en-US" altLang="zh-C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neuron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circadian databases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B85FF2C-5720-AEDB-41F1-E10AB0F24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80211"/>
              </p:ext>
            </p:extLst>
          </p:nvPr>
        </p:nvGraphicFramePr>
        <p:xfrm>
          <a:off x="606359" y="1894789"/>
          <a:ext cx="10655028" cy="329978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7919">
                  <a:extLst>
                    <a:ext uri="{9D8B030D-6E8A-4147-A177-3AD203B41FA5}">
                      <a16:colId xmlns:a16="http://schemas.microsoft.com/office/drawing/2014/main" val="2226702264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2465101723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2109328766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1872517550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575328775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1906318888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2217427774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1256626209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2277428475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656311748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3627208881"/>
                    </a:ext>
                  </a:extLst>
                </a:gridCol>
                <a:gridCol w="887919">
                  <a:extLst>
                    <a:ext uri="{9D8B030D-6E8A-4147-A177-3AD203B41FA5}">
                      <a16:colId xmlns:a16="http://schemas.microsoft.com/office/drawing/2014/main" val="2333058663"/>
                    </a:ext>
                  </a:extLst>
                </a:gridCol>
              </a:tblGrid>
              <a:tr h="1367706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circadian databases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2782638"/>
                  </a:ext>
                </a:extLst>
              </a:tr>
              <a:tr h="483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Cpa6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1.12E-14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0.933243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3.91E-10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1.16E-13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-0.90701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0.066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4.03E-09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2003147"/>
                  </a:ext>
                </a:extLst>
              </a:tr>
              <a:tr h="483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Meis2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4.41E-35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1.519472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1.54E-30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1.28E-44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-2.15316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0.259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4.45E-40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5106133"/>
                  </a:ext>
                </a:extLst>
              </a:tr>
              <a:tr h="483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Pbx1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5.56E-09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0.590119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0.681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0.000194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4.59E-11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-0.7163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1.60E-06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5339774"/>
                  </a:ext>
                </a:extLst>
              </a:tr>
              <a:tr h="4830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Pbx3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4.22E-13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0.952459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0.213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1.47E-08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3.58E-17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-1.22287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1.25E-12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3631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37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D3F9A-CD05-A668-1BBD-5734175F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Micro 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circadian databases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9E4AF7-D0F0-392B-646D-6847327F7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880874"/>
              </p:ext>
            </p:extLst>
          </p:nvPr>
        </p:nvGraphicFramePr>
        <p:xfrm>
          <a:off x="979251" y="2779395"/>
          <a:ext cx="9633624" cy="21038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02802">
                  <a:extLst>
                    <a:ext uri="{9D8B030D-6E8A-4147-A177-3AD203B41FA5}">
                      <a16:colId xmlns:a16="http://schemas.microsoft.com/office/drawing/2014/main" val="2335792106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4102341122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4263183810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916988137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049375034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778921364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3749508428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999591601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962608942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3004173977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395465106"/>
                    </a:ext>
                  </a:extLst>
                </a:gridCol>
                <a:gridCol w="802802">
                  <a:extLst>
                    <a:ext uri="{9D8B030D-6E8A-4147-A177-3AD203B41FA5}">
                      <a16:colId xmlns:a16="http://schemas.microsoft.com/office/drawing/2014/main" val="1462619825"/>
                    </a:ext>
                  </a:extLst>
                </a:gridCol>
              </a:tblGrid>
              <a:tr h="1566433"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circadian databases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99773460"/>
                  </a:ext>
                </a:extLst>
              </a:tr>
              <a:tr h="5374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Gm13710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6.18E-08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-0.6194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0.049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0.123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0.002155</a:t>
                      </a:r>
                      <a:endParaRPr lang="en-US" altLang="zh-CN" sz="1400" b="0" i="0" u="none" strike="noStrike" kern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3.84E-08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0.578375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0.122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0.049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0.001338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8504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6197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12BB0-CDF8-08A2-9FB1-0EB0D4CC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Oligo 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circadian databases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AE3849A-ADA3-F063-F218-3CB90A3A8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940034"/>
              </p:ext>
            </p:extLst>
          </p:nvPr>
        </p:nvGraphicFramePr>
        <p:xfrm>
          <a:off x="646587" y="2220713"/>
          <a:ext cx="10898825" cy="241657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3815">
                  <a:extLst>
                    <a:ext uri="{9D8B030D-6E8A-4147-A177-3AD203B41FA5}">
                      <a16:colId xmlns:a16="http://schemas.microsoft.com/office/drawing/2014/main" val="3591713526"/>
                    </a:ext>
                  </a:extLst>
                </a:gridCol>
                <a:gridCol w="897011">
                  <a:extLst>
                    <a:ext uri="{9D8B030D-6E8A-4147-A177-3AD203B41FA5}">
                      <a16:colId xmlns:a16="http://schemas.microsoft.com/office/drawing/2014/main" val="442163479"/>
                    </a:ext>
                  </a:extLst>
                </a:gridCol>
                <a:gridCol w="913017">
                  <a:extLst>
                    <a:ext uri="{9D8B030D-6E8A-4147-A177-3AD203B41FA5}">
                      <a16:colId xmlns:a16="http://schemas.microsoft.com/office/drawing/2014/main" val="155425085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3375504094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1471421572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852069709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2812428216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3732640139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2426978643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819545729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1973940873"/>
                    </a:ext>
                  </a:extLst>
                </a:gridCol>
                <a:gridCol w="834998">
                  <a:extLst>
                    <a:ext uri="{9D8B030D-6E8A-4147-A177-3AD203B41FA5}">
                      <a16:colId xmlns:a16="http://schemas.microsoft.com/office/drawing/2014/main" val="597920305"/>
                    </a:ext>
                  </a:extLst>
                </a:gridCol>
              </a:tblGrid>
              <a:tr h="1045535"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avg_log2FC.N2 vs. N1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N2 vs. N1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avg_log2FC. N3 vs. N2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pct.1.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pct.2.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p_val_adj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N3 vs. N2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circadian databases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7608117"/>
                  </a:ext>
                </a:extLst>
              </a:tr>
              <a:tr h="2912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ENSMUSG00000120522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5.02E-32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-0.90671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1.75E-27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1.46E-20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0.678181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5.09E-16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9761686"/>
                  </a:ext>
                </a:extLst>
              </a:tr>
              <a:tr h="2912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Kirrel3</a:t>
                      </a:r>
                      <a:endParaRPr lang="en-US" sz="16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1.19E-19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-0.93745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4.15E-15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6.61E-15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0.837596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2.31E-10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7883387"/>
                  </a:ext>
                </a:extLst>
              </a:tr>
              <a:tr h="2912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Pcdh15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1.08E-09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-0.5969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3.75E-05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6.38E-08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0.587758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0.002225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6560989"/>
                  </a:ext>
                </a:extLst>
              </a:tr>
              <a:tr h="2912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Smad7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2.62E-12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-0.68633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9.12E-08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1.16E-06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0.456944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0.297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0.040374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#N/A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166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6200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942</Words>
  <Application>Microsoft Office PowerPoint</Application>
  <PresentationFormat>宽屏</PresentationFormat>
  <Paragraphs>359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Times New Roman</vt:lpstr>
      <vt:lpstr>Office 主题​​</vt:lpstr>
      <vt:lpstr>Circadian DEG summary</vt:lpstr>
      <vt:lpstr>PowerPoint 演示文稿</vt:lpstr>
      <vt:lpstr>Circadian patterns in each cell type</vt:lpstr>
      <vt:lpstr>Circadian DEG number summary</vt:lpstr>
      <vt:lpstr>Circadian all DEG hits in circadian databases</vt:lpstr>
      <vt:lpstr>Circadian core DEG hits in circadian databases</vt:lpstr>
      <vt:lpstr>Circadian cell type specific DEG hits in circadian databases</vt:lpstr>
      <vt:lpstr>Circadian Astro specific DEG hits in circadian databases</vt:lpstr>
      <vt:lpstr>Circadian Inh neuron specific DEG hits in circadian databases</vt:lpstr>
      <vt:lpstr>Circadian Micro specific DEG hits in circadian databases</vt:lpstr>
      <vt:lpstr>Circadian Oligo specific DEG hits in circadian databases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Circadian DEG summary</dc:title>
  <dc:creator>Zhou Ziyue</dc:creator>
  <cp:lastModifiedBy>Zhou Ziyue</cp:lastModifiedBy>
  <cp:revision>3</cp:revision>
  <dcterms:created xsi:type="dcterms:W3CDTF">2023-03-27T01:22:48Z</dcterms:created>
  <dcterms:modified xsi:type="dcterms:W3CDTF">2023-03-31T13:58:39Z</dcterms:modified>
</cp:coreProperties>
</file>