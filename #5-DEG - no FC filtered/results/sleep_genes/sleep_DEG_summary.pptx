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4" r:id="rId3"/>
    <p:sldId id="265" r:id="rId4"/>
    <p:sldId id="266" r:id="rId5"/>
    <p:sldId id="267" r:id="rId6"/>
    <p:sldId id="26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948" autoAdjust="0"/>
  </p:normalViewPr>
  <p:slideViewPr>
    <p:cSldViewPr snapToGrid="0">
      <p:cViewPr varScale="1">
        <p:scale>
          <a:sx n="60" d="100"/>
          <a:sy n="60" d="100"/>
        </p:scale>
        <p:origin x="114" y="612"/>
      </p:cViewPr>
      <p:guideLst/>
    </p:cSldViewPr>
  </p:slideViewPr>
  <p:notesTextViewPr>
    <p:cViewPr>
      <p:scale>
        <a:sx n="1" d="1"/>
        <a:sy n="1" d="1"/>
      </p:scale>
      <p:origin x="0" y="-34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054EB-6EB4-4845-9107-8848D3229C8A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435A-853F-4582-8A1F-5C18DBF564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66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olecularbrain.biomedcentral.com/articles/10.1186/s13041-021-00835-1#Sec21" TargetMode="External"/><Relationship Id="rId7" Type="http://schemas.openxmlformats.org/officeDocument/2006/relationships/hyperlink" Target="https://doi.org/10.1371/journal.pbio.2005750.s010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i.org/10.1371/journal.pbio.2005750.s009" TargetMode="External"/><Relationship Id="rId5" Type="http://schemas.openxmlformats.org/officeDocument/2006/relationships/hyperlink" Target="https://journals.plos.org/plosbiology/article?id=10.1371/journal.pbio.2005750" TargetMode="External"/><Relationship Id="rId4" Type="http://schemas.openxmlformats.org/officeDocument/2006/relationships/hyperlink" Target="https://molecularbrain.biomedcentral.com/articles/10.1186/s13041-020-00702-5#Sec22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Exclusive: </a:t>
            </a:r>
            <a:r>
              <a:rPr lang="zh-CN" altLang="en-US" dirty="0"/>
              <a:t>只在该细胞类型中的</a:t>
            </a:r>
            <a:r>
              <a:rPr lang="en-US" altLang="zh-CN" dirty="0"/>
              <a:t>DEG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48791C-524A-44F3-B50E-440D33025F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807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0" u="sng" strike="noStrike" dirty="0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hlinkClick r:id="rId3"/>
              </a:rPr>
              <a:t>Altered hippocampal transcriptome dynamics following sleep deprivation | Molecular Brain | Full Text (biomedcentral.com)</a:t>
            </a:r>
            <a:r>
              <a:rPr lang="en-US" altLang="zh-CN" dirty="0"/>
              <a:t> </a:t>
            </a:r>
          </a:p>
          <a:p>
            <a:r>
              <a:rPr lang="en-US" altLang="zh-CN" sz="1800" b="0" i="0" u="sng" strike="noStrike" dirty="0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hlinkClick r:id="rId4"/>
              </a:rPr>
              <a:t>Translational changes induced by acute sleep deprivation uncovered by TRAP-Seq | Molecular Brain | Full Text (biomedcentral.com)</a:t>
            </a:r>
            <a:r>
              <a:rPr lang="en-US" altLang="zh-CN" dirty="0"/>
              <a:t> </a:t>
            </a:r>
          </a:p>
          <a:p>
            <a:r>
              <a:rPr lang="en-US" altLang="zh-CN" dirty="0">
                <a:hlinkClick r:id="rId5"/>
              </a:rPr>
              <a:t>A systems genetics resource and analysis of sleep regulation in the mouse | PLOS Biology</a:t>
            </a:r>
            <a:endParaRPr lang="en-US" altLang="zh-CN" dirty="0"/>
          </a:p>
          <a:p>
            <a:r>
              <a:rPr lang="en-US" altLang="zh-CN" sz="1800" b="0" i="0" u="sng" strike="noStrike" dirty="0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hlinkClick r:id="rId6"/>
              </a:rPr>
              <a:t>	https://doi.org/10.1371/journal.pbio.2005750.s009</a:t>
            </a:r>
            <a:r>
              <a:rPr lang="en-US" altLang="zh-CN" dirty="0"/>
              <a:t> </a:t>
            </a:r>
          </a:p>
          <a:p>
            <a:r>
              <a:rPr lang="en-US" altLang="zh-CN" sz="1800" b="0" i="0" u="sng" strike="noStrike" dirty="0">
                <a:solidFill>
                  <a:srgbClr val="0563C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hlinkClick r:id="rId7"/>
              </a:rPr>
              <a:t>	https://doi.org/10.1371/journal.pbio.2005750.s010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435A-853F-4582-8A1F-5C18DBF564F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409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E714F-C132-9CF4-E2CF-1AF1007B9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AFC756-3C28-9DD1-2B93-19CC49BCE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932156-7454-7CFF-BA0D-7ADCABBB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3C92-8B04-486B-9911-51D88CAD1462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86D6C4-ADDA-D730-5C23-AE52CEB18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F7A3AE-F13D-4C2C-3C08-9A17D870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7388-FD88-4BE6-9ADA-26B8F34C5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482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44A9D-EA5C-4250-6587-3824415B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8EA232-6181-663A-6170-1A87975DB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887E4C-1A97-3C02-251F-95DB464C9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3C92-8B04-486B-9911-51D88CAD1462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D8A94E-CE6C-6448-9E89-DA50276DE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ABACD-1A06-2A88-8112-5015B0B6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7388-FD88-4BE6-9ADA-26B8F34C5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913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FAA17D-735F-0F04-2E8C-EC3DE1AB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DD625A-1E53-2FC1-BD48-7F3A5E8D5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DF052-1869-D07D-0224-331B75710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3C92-8B04-486B-9911-51D88CAD1462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0FB039-EC27-9634-FF12-20B5D410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32D2BB-ADA9-88A5-1662-28301051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7388-FD88-4BE6-9ADA-26B8F34C5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9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78E32-7F62-CC9A-9F59-EB0D1451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9D1DA-A785-EEF4-3E8F-4D8469692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4CB4B3-8093-D12B-4A6F-21F022715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84BCC9-B5F0-3A0C-F341-BB5F45F0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3C92-8B04-486B-9911-51D88CAD1462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F73F61-BE29-6E04-E1E0-CBD82659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E93C30-8C56-C273-F887-103F6056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7388-FD88-4BE6-9ADA-26B8F34C5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373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89172-0FC1-23D5-FB74-0EE107DF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7B8E63-D78D-40C5-0907-D25D86CE1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E76D72-7782-EF3B-071B-F9B6564F9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DDE111-5E5C-C5B2-0469-0DC4422AB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D34786-3B66-FD35-CFD1-4B2A9D126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199E48-AB71-1AD0-3D10-72979CDE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3C92-8B04-486B-9911-51D88CAD1462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5034B7A-5B72-581F-1976-B0A97753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3BAC27-CFB7-92EF-FA30-674D64E2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7388-FD88-4BE6-9ADA-26B8F34C5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048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2B7E8-1602-5CD8-58CD-91BAF953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77BC5D-6C56-94A6-6684-906E58BE5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3C92-8B04-486B-9911-51D88CAD1462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1F69D1-1684-32F6-9180-85E027F0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D5179A-EF40-1D6E-4A38-34293955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7388-FD88-4BE6-9ADA-26B8F34C5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764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81CC51-DD64-E5AC-8B3F-F14ABEEFD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3C92-8B04-486B-9911-51D88CAD1462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72769D-1CF1-E3BB-6C9A-1C9669642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E49446-AB1E-2786-0596-633ECC22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7388-FD88-4BE6-9ADA-26B8F34C5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596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53804-8BB1-DC91-E4DB-D137A44D4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A6EA89-D4E3-01E5-03FB-0C3C9EB03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8A63D0-8D72-E17A-69A8-F14124B99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EA3C67-6799-ACE5-918B-B0C7F6C3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3C92-8B04-486B-9911-51D88CAD1462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FDFF90-B0B9-5678-63BB-9BDB42D8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E8C538-9E03-101E-F999-8117A8F0A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7388-FD88-4BE6-9ADA-26B8F34C5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42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4ABD6-F6FD-1C4E-FBC6-AA35D5C9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F8BA37-09C2-1ED6-56C6-2281A48FB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B03E26-A347-63A3-6262-402D01F86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CBD5CB-7CBB-ECA5-311C-13F2EF54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3C92-8B04-486B-9911-51D88CAD1462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6A2F17-660E-3E7E-F3C2-BCAF52B41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EC06E6-4003-3270-7CB9-2BBB2492C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7388-FD88-4BE6-9ADA-26B8F34C5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11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518F2-568B-0C86-4564-0F5B13583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17E9BA-5EBD-0160-4D35-E1C82BEAD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B7BE7-D478-3FA9-E4DA-B1F7C7D75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3C92-8B04-486B-9911-51D88CAD1462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F114C8-FF6D-BB8F-8F5B-048CEE56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92B2E7-CBA9-17A4-2DB3-D30912F1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7388-FD88-4BE6-9ADA-26B8F34C5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63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06BB8B0-27B1-A8DC-5F0A-568126846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89588D-41F8-08AB-5AB9-E8D639F8D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AF9C5B-7D22-824D-C90A-2727DBBAF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3C92-8B04-486B-9911-51D88CAD1462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36869D-FB7E-F4BF-53D7-C956128E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6B872-E7D8-A540-48ED-4A25A819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7388-FD88-4BE6-9ADA-26B8F34C5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78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B050BC-6B24-5C20-03BA-9FF472C57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6BE69A-7641-7A0E-10E7-53B00EFE3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31E1FF-59EF-D269-F437-73D2DBC06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33C92-8B04-486B-9911-51D88CAD1462}" type="datetimeFigureOut">
              <a:rPr lang="zh-CN" altLang="en-US" smtClean="0"/>
              <a:t>2023/4/6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124F12-9A7D-C2C3-2B51-820FA433D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3790F6-3C17-67F4-01B6-E85ED3C1A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57388-FD88-4BE6-9ADA-26B8F34C5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986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3D493-F232-328D-E01F-B76C2972A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DEG summary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B8B4B6-A3EF-3EAA-31CC-9A5671A356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ZZY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2023. 3. 27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128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, 维恩图&#10;&#10;描述已自动生成">
            <a:extLst>
              <a:ext uri="{FF2B5EF4-FFF2-40B4-BE49-F238E27FC236}">
                <a16:creationId xmlns:a16="http://schemas.microsoft.com/office/drawing/2014/main" id="{78763B79-2776-9572-CE8B-A23A615CF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06" y="571500"/>
            <a:ext cx="5715000" cy="5715000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EC3DE38-3794-3386-BC13-A27BCF338D0C}"/>
              </a:ext>
            </a:extLst>
          </p:cNvPr>
          <p:cNvCxnSpPr>
            <a:cxnSpLocks/>
          </p:cNvCxnSpPr>
          <p:nvPr/>
        </p:nvCxnSpPr>
        <p:spPr>
          <a:xfrm flipV="1">
            <a:off x="3295650" y="1423277"/>
            <a:ext cx="1312424" cy="1662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E9E4210-01B0-DA8F-84FB-37E7230ADEF4}"/>
              </a:ext>
            </a:extLst>
          </p:cNvPr>
          <p:cNvSpPr txBox="1"/>
          <p:nvPr/>
        </p:nvSpPr>
        <p:spPr>
          <a:xfrm>
            <a:off x="4254500" y="1053945"/>
            <a:ext cx="184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Circadian genes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30">
            <a:extLst>
              <a:ext uri="{FF2B5EF4-FFF2-40B4-BE49-F238E27FC236}">
                <a16:creationId xmlns:a16="http://schemas.microsoft.com/office/drawing/2014/main" id="{0DF8A902-A12F-CCA4-1305-51DD4891EA6A}"/>
              </a:ext>
            </a:extLst>
          </p:cNvPr>
          <p:cNvGraphicFramePr>
            <a:graphicFrameLocks noGrp="1"/>
          </p:cNvGraphicFramePr>
          <p:nvPr/>
        </p:nvGraphicFramePr>
        <p:xfrm>
          <a:off x="6801524" y="889272"/>
          <a:ext cx="4512825" cy="2292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799">
                  <a:extLst>
                    <a:ext uri="{9D8B030D-6E8A-4147-A177-3AD203B41FA5}">
                      <a16:colId xmlns:a16="http://schemas.microsoft.com/office/drawing/2014/main" val="398441533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863256061"/>
                    </a:ext>
                  </a:extLst>
                </a:gridCol>
                <a:gridCol w="1581151">
                  <a:extLst>
                    <a:ext uri="{9D8B030D-6E8A-4147-A177-3AD203B41FA5}">
                      <a16:colId xmlns:a16="http://schemas.microsoft.com/office/drawing/2014/main" val="3450991333"/>
                    </a:ext>
                  </a:extLst>
                </a:gridCol>
              </a:tblGrid>
              <a:tr h="573246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sleep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circadian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249588"/>
                  </a:ext>
                </a:extLst>
              </a:tr>
              <a:tr h="5732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NS(N1)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Sleep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ZT6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005740"/>
                  </a:ext>
                </a:extLst>
              </a:tr>
              <a:tr h="5732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NW(N2)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ZT18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057561"/>
                  </a:ext>
                </a:extLst>
              </a:tr>
              <a:tr h="5732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SD1D(N3)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wake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ZT6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3354570"/>
                  </a:ext>
                </a:extLst>
              </a:tr>
            </a:tbl>
          </a:graphicData>
        </a:graphic>
      </p:graphicFrame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65EB783-CA06-5443-3850-5D81D8796F4B}"/>
              </a:ext>
            </a:extLst>
          </p:cNvPr>
          <p:cNvCxnSpPr/>
          <p:nvPr/>
        </p:nvCxnSpPr>
        <p:spPr>
          <a:xfrm>
            <a:off x="4343400" y="4505325"/>
            <a:ext cx="962025" cy="1162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22BA41D-E2AD-E077-7B2A-43B9D94850EE}"/>
              </a:ext>
            </a:extLst>
          </p:cNvPr>
          <p:cNvSpPr txBox="1"/>
          <p:nvPr/>
        </p:nvSpPr>
        <p:spPr>
          <a:xfrm>
            <a:off x="5305425" y="5599396"/>
            <a:ext cx="184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genes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BE5A4A8-6DD7-9307-2683-52F0DF3B8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826" y="3619214"/>
            <a:ext cx="4858428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2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34B0A-6089-FBB8-C6B8-1037AB78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patterns in each cell type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图示, 维恩图&#10;&#10;描述已自动生成">
            <a:extLst>
              <a:ext uri="{FF2B5EF4-FFF2-40B4-BE49-F238E27FC236}">
                <a16:creationId xmlns:a16="http://schemas.microsoft.com/office/drawing/2014/main" id="{C4BC0398-241E-04E0-4BD4-0DBD4912B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07" y="1097604"/>
            <a:ext cx="2718070" cy="2718070"/>
          </a:xfrm>
          <a:prstGeom prst="rect">
            <a:avLst/>
          </a:prstGeom>
        </p:spPr>
      </p:pic>
      <p:pic>
        <p:nvPicPr>
          <p:cNvPr id="7" name="图片 6" descr="图示&#10;&#10;低可信度描述已自动生成">
            <a:extLst>
              <a:ext uri="{FF2B5EF4-FFF2-40B4-BE49-F238E27FC236}">
                <a16:creationId xmlns:a16="http://schemas.microsoft.com/office/drawing/2014/main" id="{E503ED13-CEC7-83D6-FFF8-009A2EFA2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177" y="1097604"/>
            <a:ext cx="2718071" cy="2718071"/>
          </a:xfrm>
          <a:prstGeom prst="rect">
            <a:avLst/>
          </a:prstGeom>
        </p:spPr>
      </p:pic>
      <p:pic>
        <p:nvPicPr>
          <p:cNvPr id="9" name="图片 8" descr="图示&#10;&#10;描述已自动生成">
            <a:extLst>
              <a:ext uri="{FF2B5EF4-FFF2-40B4-BE49-F238E27FC236}">
                <a16:creationId xmlns:a16="http://schemas.microsoft.com/office/drawing/2014/main" id="{979DAD52-9869-99CA-CCA4-731A0FFB0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246" y="1097604"/>
            <a:ext cx="2718072" cy="2718072"/>
          </a:xfrm>
          <a:prstGeom prst="rect">
            <a:avLst/>
          </a:prstGeom>
        </p:spPr>
      </p:pic>
      <p:pic>
        <p:nvPicPr>
          <p:cNvPr id="11" name="图片 10" descr="图示&#10;&#10;描述已自动生成">
            <a:extLst>
              <a:ext uri="{FF2B5EF4-FFF2-40B4-BE49-F238E27FC236}">
                <a16:creationId xmlns:a16="http://schemas.microsoft.com/office/drawing/2014/main" id="{FD994967-4849-E1A6-B334-576F8BA533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314" y="1064130"/>
            <a:ext cx="2718073" cy="2718073"/>
          </a:xfrm>
          <a:prstGeom prst="rect">
            <a:avLst/>
          </a:prstGeom>
        </p:spPr>
      </p:pic>
      <p:pic>
        <p:nvPicPr>
          <p:cNvPr id="13" name="图片 12" descr="图示, 维恩图&#10;&#10;描述已自动生成">
            <a:extLst>
              <a:ext uri="{FF2B5EF4-FFF2-40B4-BE49-F238E27FC236}">
                <a16:creationId xmlns:a16="http://schemas.microsoft.com/office/drawing/2014/main" id="{BEC6D68D-1BE7-8A7D-E04B-B0F1E5E1B6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04" y="3967260"/>
            <a:ext cx="2718073" cy="2718073"/>
          </a:xfrm>
          <a:prstGeom prst="rect">
            <a:avLst/>
          </a:prstGeom>
        </p:spPr>
      </p:pic>
      <p:pic>
        <p:nvPicPr>
          <p:cNvPr id="15" name="图片 14" descr="图示, 维恩图&#10;&#10;描述已自动生成">
            <a:extLst>
              <a:ext uri="{FF2B5EF4-FFF2-40B4-BE49-F238E27FC236}">
                <a16:creationId xmlns:a16="http://schemas.microsoft.com/office/drawing/2014/main" id="{20796279-AC7E-E673-30E9-E7818B09DB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172" y="3967260"/>
            <a:ext cx="2718074" cy="2718074"/>
          </a:xfrm>
          <a:prstGeom prst="rect">
            <a:avLst/>
          </a:prstGeom>
        </p:spPr>
      </p:pic>
      <p:pic>
        <p:nvPicPr>
          <p:cNvPr id="17" name="图片 16" descr="图示, 维恩图&#10;&#10;描述已自动生成">
            <a:extLst>
              <a:ext uri="{FF2B5EF4-FFF2-40B4-BE49-F238E27FC236}">
                <a16:creationId xmlns:a16="http://schemas.microsoft.com/office/drawing/2014/main" id="{19B42F93-BF77-DE3A-CD62-23F6F600B9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239" y="3967258"/>
            <a:ext cx="2718075" cy="2718075"/>
          </a:xfrm>
          <a:prstGeom prst="rect">
            <a:avLst/>
          </a:prstGeom>
        </p:spPr>
      </p:pic>
      <p:pic>
        <p:nvPicPr>
          <p:cNvPr id="19" name="图片 18" descr="图示&#10;&#10;描述已自动生成">
            <a:extLst>
              <a:ext uri="{FF2B5EF4-FFF2-40B4-BE49-F238E27FC236}">
                <a16:creationId xmlns:a16="http://schemas.microsoft.com/office/drawing/2014/main" id="{A7CA2F4B-1F8F-6A7A-A337-CE1B917E3C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312" y="3967257"/>
            <a:ext cx="2718076" cy="271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5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ACFA3-1D7B-E2DF-8347-F2E0F246D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81" y="131661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DEG number summary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91A2B54-0614-10A0-2BDA-68D83656CD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0683359"/>
              </p:ext>
            </p:extLst>
          </p:nvPr>
        </p:nvGraphicFramePr>
        <p:xfrm>
          <a:off x="274952" y="2738120"/>
          <a:ext cx="11642091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110168361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34767924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84250530"/>
                    </a:ext>
                  </a:extLst>
                </a:gridCol>
                <a:gridCol w="1394143">
                  <a:extLst>
                    <a:ext uri="{9D8B030D-6E8A-4147-A177-3AD203B41FA5}">
                      <a16:colId xmlns:a16="http://schemas.microsoft.com/office/drawing/2014/main" val="2827974673"/>
                    </a:ext>
                  </a:extLst>
                </a:gridCol>
                <a:gridCol w="1851343">
                  <a:extLst>
                    <a:ext uri="{9D8B030D-6E8A-4147-A177-3AD203B41FA5}">
                      <a16:colId xmlns:a16="http://schemas.microsoft.com/office/drawing/2014/main" val="1735488042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17452087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9801259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44450709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54071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Astro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neuron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Glial cell(</a:t>
                      </a:r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Egfr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neuron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Oligo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OPC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42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No. 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09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Exclusive No. 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89778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814B2FE-AF41-275C-4D4A-32C1305AB9F2}"/>
              </a:ext>
            </a:extLst>
          </p:cNvPr>
          <p:cNvSpPr txBox="1"/>
          <p:nvPr/>
        </p:nvSpPr>
        <p:spPr>
          <a:xfrm>
            <a:off x="1178666" y="4694791"/>
            <a:ext cx="9834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sleep DEG number(remove repeat): 721</a:t>
            </a:r>
          </a:p>
        </p:txBody>
      </p:sp>
    </p:spTree>
    <p:extLst>
      <p:ext uri="{BB962C8B-B14F-4D97-AF65-F5344CB8AC3E}">
        <p14:creationId xmlns:p14="http://schemas.microsoft.com/office/powerpoint/2010/main" val="3405268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8912D9-ED28-F7A5-342D-74B1DA475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07887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all DEG hits in circadian databases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C79838-FBC9-09F9-5901-7574452C2932}"/>
              </a:ext>
            </a:extLst>
          </p:cNvPr>
          <p:cNvSpPr txBox="1"/>
          <p:nvPr/>
        </p:nvSpPr>
        <p:spPr>
          <a:xfrm>
            <a:off x="1178668" y="672267"/>
            <a:ext cx="9834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sleep DEG number(remove repeat): 721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DEG hits: 76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D76AD44-3DD3-2710-67C4-DC38EF1CF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233137"/>
              </p:ext>
            </p:extLst>
          </p:nvPr>
        </p:nvGraphicFramePr>
        <p:xfrm>
          <a:off x="2015246" y="1380153"/>
          <a:ext cx="8500354" cy="532066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50177">
                  <a:extLst>
                    <a:ext uri="{9D8B030D-6E8A-4147-A177-3AD203B41FA5}">
                      <a16:colId xmlns:a16="http://schemas.microsoft.com/office/drawing/2014/main" val="856803350"/>
                    </a:ext>
                  </a:extLst>
                </a:gridCol>
                <a:gridCol w="4250177">
                  <a:extLst>
                    <a:ext uri="{9D8B030D-6E8A-4147-A177-3AD203B41FA5}">
                      <a16:colId xmlns:a16="http://schemas.microsoft.com/office/drawing/2014/main" val="2068973070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20 hits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Hits in databases</a:t>
                      </a:r>
                      <a:endParaRPr lang="en-US" altLang="zh-CN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769033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Arc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3916443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Fos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5130895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D130043K22Rik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14118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Hunk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298201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Nr4a3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038219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Pla2g4e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147794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Rad51ap2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229361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Rasl10a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5263854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Slc6a6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112944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Spred1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634909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Wnt9a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9722561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Zdhhc8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25782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Zfp46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776408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Nrg3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739106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Actg1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159077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Adam23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359074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Adgrb3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182655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Ankrd28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6166976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Ankrd6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547968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Apbb2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3093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844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BAB3E-1267-54C4-8320-F2D92611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cell type specific DEG hits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sleep deprivation RNA seq databases</a:t>
            </a:r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41FB8DE2-8871-DF81-2B7E-C7C82B8B38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8189352"/>
              </p:ext>
            </p:extLst>
          </p:nvPr>
        </p:nvGraphicFramePr>
        <p:xfrm>
          <a:off x="274954" y="1960880"/>
          <a:ext cx="11642091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110168361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34767924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84250530"/>
                    </a:ext>
                  </a:extLst>
                </a:gridCol>
                <a:gridCol w="1394143">
                  <a:extLst>
                    <a:ext uri="{9D8B030D-6E8A-4147-A177-3AD203B41FA5}">
                      <a16:colId xmlns:a16="http://schemas.microsoft.com/office/drawing/2014/main" val="2827974673"/>
                    </a:ext>
                  </a:extLst>
                </a:gridCol>
                <a:gridCol w="1851343">
                  <a:extLst>
                    <a:ext uri="{9D8B030D-6E8A-4147-A177-3AD203B41FA5}">
                      <a16:colId xmlns:a16="http://schemas.microsoft.com/office/drawing/2014/main" val="1735488042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17452087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98012590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44450709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540713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Astro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neuron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Glial cell(</a:t>
                      </a:r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Egfr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+)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neuron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Oligo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OPC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428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No. 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699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09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Hits in Total No. 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8251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Exclusive No. 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9897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Hits in Exclusive No. 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038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7733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329</Words>
  <Application>Microsoft Office PowerPoint</Application>
  <PresentationFormat>宽屏</PresentationFormat>
  <Paragraphs>143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Times New Roman</vt:lpstr>
      <vt:lpstr>Office 主题​​</vt:lpstr>
      <vt:lpstr>Sleep DEG summary</vt:lpstr>
      <vt:lpstr>PowerPoint 演示文稿</vt:lpstr>
      <vt:lpstr>Sleep patterns in each cell type</vt:lpstr>
      <vt:lpstr>Sleep DEG number summary</vt:lpstr>
      <vt:lpstr>Sleep all DEG hits in circadian databases</vt:lpstr>
      <vt:lpstr>Sleep cell type specific DEG hits in sleep deprivation RNA seq databases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DEG summary</dc:title>
  <dc:creator>Zhou Ziyue</dc:creator>
  <cp:lastModifiedBy>Zhou Ziyue</cp:lastModifiedBy>
  <cp:revision>4</cp:revision>
  <dcterms:created xsi:type="dcterms:W3CDTF">2023-03-27T07:41:48Z</dcterms:created>
  <dcterms:modified xsi:type="dcterms:W3CDTF">2023-04-06T07:23:08Z</dcterms:modified>
</cp:coreProperties>
</file>